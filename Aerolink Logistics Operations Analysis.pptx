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Medium" panose="020B0604020202020204" charset="0"/>
      <p:regular r:id="rId21"/>
      <p:bold r:id="rId22"/>
      <p:italic r:id="rId23"/>
      <p:boldItalic r:id="rId24"/>
    </p:embeddedFont>
    <p:embeddedFont>
      <p:font typeface="Inter SemiBold" panose="020B0604020202020204" charset="0"/>
      <p:regular r:id="rId25"/>
      <p:bold r:id="rId26"/>
      <p:italic r:id="rId27"/>
      <p:boldItalic r:id="rId28"/>
    </p:embeddedFont>
    <p:embeddedFont>
      <p:font typeface="Poppins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44AFAE-619A-4DCA-A104-E4FB9F43DBA9}">
  <a:tblStyle styleId="{A244AFAE-619A-4DCA-A104-E4FB9F43DBA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shi\Documents\Logistics%20Operation%20Analysis%20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shi\Documents\Logistics%20Operation%20Analysis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shi\Documents\Logistics%20Operation%20Analysis%20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shi\Documents\Logistics%20Operation%20Analysis%20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shi\Documents\Logistics%20Operation%20Analysis%20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shi\Documents\Logistics%20Operation%20Analysis%20Dashboar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[Logistics Operation Analysis Dashboard.xlsx]Montly revenue!PivotTable1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</a:t>
            </a:r>
            <a:r>
              <a:rPr lang="en-US" baseline="0"/>
              <a:t> Revenue Trend (Jan 2022- Dec 2024)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6092628832354858E-2"/>
          <c:y val="0.18981815512275363"/>
          <c:w val="0.8010697977821265"/>
          <c:h val="0.7072446212970217"/>
        </c:manualLayout>
      </c:layout>
      <c:lineChart>
        <c:grouping val="standard"/>
        <c:varyColors val="0"/>
        <c:ser>
          <c:idx val="0"/>
          <c:order val="0"/>
          <c:tx>
            <c:strRef>
              <c:f>'Montly revenue'!$I$4:$I$5</c:f>
              <c:strCache>
                <c:ptCount val="1"/>
                <c:pt idx="0">
                  <c:v>2022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4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cat>
            <c:strRef>
              <c:f>'Montly revenue'!$H$6:$H$18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'Montly revenue'!$I$6:$I$18</c:f>
              <c:numCache>
                <c:formatCode>"$"#,##0.00</c:formatCode>
                <c:ptCount val="12"/>
                <c:pt idx="0">
                  <c:v>7566361.9900000002</c:v>
                </c:pt>
                <c:pt idx="1">
                  <c:v>6574259.0700000003</c:v>
                </c:pt>
                <c:pt idx="2">
                  <c:v>7401197.0499999998</c:v>
                </c:pt>
                <c:pt idx="3">
                  <c:v>7156041.2199999997</c:v>
                </c:pt>
                <c:pt idx="4">
                  <c:v>7518061.3300000001</c:v>
                </c:pt>
                <c:pt idx="5">
                  <c:v>7325637.6900000004</c:v>
                </c:pt>
                <c:pt idx="6">
                  <c:v>7380097.2300000004</c:v>
                </c:pt>
                <c:pt idx="7">
                  <c:v>7716839.5700000003</c:v>
                </c:pt>
                <c:pt idx="8">
                  <c:v>7108889.8300000001</c:v>
                </c:pt>
                <c:pt idx="9">
                  <c:v>7501831.5599999996</c:v>
                </c:pt>
                <c:pt idx="10">
                  <c:v>7260206.3600000003</c:v>
                </c:pt>
                <c:pt idx="11">
                  <c:v>7341477.1100000003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C0-4952-8911-792F917B3CBC}"/>
            </c:ext>
          </c:extLst>
        </c:ser>
        <c:ser>
          <c:idx val="1"/>
          <c:order val="1"/>
          <c:tx>
            <c:strRef>
              <c:f>'Montly revenue'!$J$4:$J$5</c:f>
              <c:strCache>
                <c:ptCount val="1"/>
                <c:pt idx="0">
                  <c:v>2023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circle"/>
            <c:size val="4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marker>
          <c:cat>
            <c:strRef>
              <c:f>'Montly revenue'!$H$6:$H$18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'Montly revenue'!$J$6:$J$18</c:f>
              <c:numCache>
                <c:formatCode>"$"#,##0.00</c:formatCode>
                <c:ptCount val="12"/>
                <c:pt idx="0">
                  <c:v>7428081.3099999996</c:v>
                </c:pt>
                <c:pt idx="1">
                  <c:v>6618783</c:v>
                </c:pt>
                <c:pt idx="2">
                  <c:v>7509745.7000000002</c:v>
                </c:pt>
                <c:pt idx="3">
                  <c:v>7289831.1399999997</c:v>
                </c:pt>
                <c:pt idx="4">
                  <c:v>7243795.2199999997</c:v>
                </c:pt>
                <c:pt idx="5">
                  <c:v>7278443.2300000004</c:v>
                </c:pt>
                <c:pt idx="6">
                  <c:v>7576414.1399999997</c:v>
                </c:pt>
                <c:pt idx="7">
                  <c:v>7194393.5800000001</c:v>
                </c:pt>
                <c:pt idx="8">
                  <c:v>7018436.21</c:v>
                </c:pt>
                <c:pt idx="9">
                  <c:v>7406523.7199999997</c:v>
                </c:pt>
                <c:pt idx="10">
                  <c:v>7235373.4699999997</c:v>
                </c:pt>
                <c:pt idx="11">
                  <c:v>7155728.9299999997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C0-4952-8911-792F917B3CBC}"/>
            </c:ext>
          </c:extLst>
        </c:ser>
        <c:ser>
          <c:idx val="2"/>
          <c:order val="2"/>
          <c:tx>
            <c:strRef>
              <c:f>'Montly revenue'!$K$4:$K$5</c:f>
              <c:strCache>
                <c:ptCount val="1"/>
                <c:pt idx="0">
                  <c:v>2024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circle"/>
            <c:size val="4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</c:marker>
          <c:cat>
            <c:strRef>
              <c:f>'Montly revenue'!$H$6:$H$18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'Montly revenue'!$K$6:$K$18</c:f>
              <c:numCache>
                <c:formatCode>"$"#,##0.00</c:formatCode>
                <c:ptCount val="12"/>
                <c:pt idx="0">
                  <c:v>7386201.0499999998</c:v>
                </c:pt>
                <c:pt idx="1">
                  <c:v>6970220.9400000004</c:v>
                </c:pt>
                <c:pt idx="2">
                  <c:v>7453599</c:v>
                </c:pt>
                <c:pt idx="3">
                  <c:v>7122948.7300000004</c:v>
                </c:pt>
                <c:pt idx="4">
                  <c:v>7569586.9500000002</c:v>
                </c:pt>
                <c:pt idx="5">
                  <c:v>7489030.25</c:v>
                </c:pt>
                <c:pt idx="6">
                  <c:v>7310741.9900000002</c:v>
                </c:pt>
                <c:pt idx="7">
                  <c:v>7349694.5</c:v>
                </c:pt>
                <c:pt idx="8">
                  <c:v>7145569.3700000001</c:v>
                </c:pt>
                <c:pt idx="9">
                  <c:v>7497105.7300000004</c:v>
                </c:pt>
                <c:pt idx="10">
                  <c:v>7095885.9299999997</c:v>
                </c:pt>
                <c:pt idx="11">
                  <c:v>7328766.2300000004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C0-4952-8911-792F917B3C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3941056"/>
        <c:axId val="323944416"/>
      </c:lineChart>
      <c:catAx>
        <c:axId val="323941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3944416"/>
        <c:crosses val="autoZero"/>
        <c:auto val="1"/>
        <c:lblAlgn val="ctr"/>
        <c:lblOffset val="100"/>
        <c:noMultiLvlLbl val="0"/>
      </c:catAx>
      <c:valAx>
        <c:axId val="323944416"/>
        <c:scaling>
          <c:orientation val="minMax"/>
        </c:scaling>
        <c:delete val="1"/>
        <c:axPos val="l"/>
        <c:numFmt formatCode="&quot;$&quot;#,##0.00" sourceLinked="1"/>
        <c:majorTickMark val="out"/>
        <c:minorTickMark val="none"/>
        <c:tickLblPos val="nextTo"/>
        <c:crossAx val="323941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>
        <a:lumMod val="50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[Logistics Operation Analysis Dashboard.xlsx]Top Customers!PivotTable3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Top</a:t>
            </a:r>
            <a:r>
              <a:rPr lang="en-US" baseline="0"/>
              <a:t> 10 Customers by Revenue(2022-2024)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'Top Customers'!$I$4:$I$5</c:f>
              <c:strCache>
                <c:ptCount val="1"/>
                <c:pt idx="0">
                  <c:v>Contract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'Top Customers'!$H$6:$H$16</c:f>
              <c:strCache>
                <c:ptCount val="10"/>
                <c:pt idx="0">
                  <c:v>Global Wholesale</c:v>
                </c:pt>
                <c:pt idx="1">
                  <c:v>ABC Distribution</c:v>
                </c:pt>
                <c:pt idx="2">
                  <c:v>ABC Supply Chain</c:v>
                </c:pt>
                <c:pt idx="3">
                  <c:v>Pacific Corp</c:v>
                </c:pt>
                <c:pt idx="4">
                  <c:v>XYZ Foods</c:v>
                </c:pt>
                <c:pt idx="5">
                  <c:v>Continental Supply Chain</c:v>
                </c:pt>
                <c:pt idx="6">
                  <c:v>XYZ Wholesale</c:v>
                </c:pt>
                <c:pt idx="7">
                  <c:v>Metro Wholesale</c:v>
                </c:pt>
                <c:pt idx="8">
                  <c:v>First Logistics</c:v>
                </c:pt>
                <c:pt idx="9">
                  <c:v>First Group</c:v>
                </c:pt>
              </c:strCache>
            </c:strRef>
          </c:cat>
          <c:val>
            <c:numRef>
              <c:f>'Top Customers'!$I$6:$I$16</c:f>
              <c:numCache>
                <c:formatCode>"$"#,##0.00</c:formatCode>
                <c:ptCount val="10"/>
                <c:pt idx="0">
                  <c:v>1380618.52</c:v>
                </c:pt>
                <c:pt idx="2">
                  <c:v>1407443.52</c:v>
                </c:pt>
                <c:pt idx="3">
                  <c:v>2754998.82</c:v>
                </c:pt>
                <c:pt idx="4">
                  <c:v>1415688.97</c:v>
                </c:pt>
                <c:pt idx="5">
                  <c:v>1396737.36</c:v>
                </c:pt>
                <c:pt idx="6">
                  <c:v>5282241.66</c:v>
                </c:pt>
                <c:pt idx="8">
                  <c:v>1373861.77</c:v>
                </c:pt>
                <c:pt idx="9">
                  <c:v>2669890.58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B6-437F-AADD-16A90E177D78}"/>
            </c:ext>
          </c:extLst>
        </c:ser>
        <c:ser>
          <c:idx val="1"/>
          <c:order val="1"/>
          <c:tx>
            <c:strRef>
              <c:f>'Top Customers'!$J$4:$J$5</c:f>
              <c:strCache>
                <c:ptCount val="1"/>
                <c:pt idx="0">
                  <c:v>Dedicated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'Top Customers'!$H$6:$H$16</c:f>
              <c:strCache>
                <c:ptCount val="10"/>
                <c:pt idx="0">
                  <c:v>Global Wholesale</c:v>
                </c:pt>
                <c:pt idx="1">
                  <c:v>ABC Distribution</c:v>
                </c:pt>
                <c:pt idx="2">
                  <c:v>ABC Supply Chain</c:v>
                </c:pt>
                <c:pt idx="3">
                  <c:v>Pacific Corp</c:v>
                </c:pt>
                <c:pt idx="4">
                  <c:v>XYZ Foods</c:v>
                </c:pt>
                <c:pt idx="5">
                  <c:v>Continental Supply Chain</c:v>
                </c:pt>
                <c:pt idx="6">
                  <c:v>XYZ Wholesale</c:v>
                </c:pt>
                <c:pt idx="7">
                  <c:v>Metro Wholesale</c:v>
                </c:pt>
                <c:pt idx="8">
                  <c:v>First Logistics</c:v>
                </c:pt>
                <c:pt idx="9">
                  <c:v>First Group</c:v>
                </c:pt>
              </c:strCache>
            </c:strRef>
          </c:cat>
          <c:val>
            <c:numRef>
              <c:f>'Top Customers'!$J$6:$J$16</c:f>
              <c:numCache>
                <c:formatCode>"$"#,##0.00</c:formatCode>
                <c:ptCount val="10"/>
                <c:pt idx="0">
                  <c:v>1370567.97</c:v>
                </c:pt>
                <c:pt idx="1">
                  <c:v>2776002.5600000001</c:v>
                </c:pt>
                <c:pt idx="2">
                  <c:v>2665640.67</c:v>
                </c:pt>
                <c:pt idx="3">
                  <c:v>1395643.12</c:v>
                </c:pt>
                <c:pt idx="4">
                  <c:v>1544419.81</c:v>
                </c:pt>
                <c:pt idx="5">
                  <c:v>2687863.85</c:v>
                </c:pt>
                <c:pt idx="7">
                  <c:v>2587394.04</c:v>
                </c:pt>
                <c:pt idx="8">
                  <c:v>3651234.38</c:v>
                </c:pt>
                <c:pt idx="9">
                  <c:v>3688730.99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B6-437F-AADD-16A90E177D78}"/>
            </c:ext>
          </c:extLst>
        </c:ser>
        <c:ser>
          <c:idx val="2"/>
          <c:order val="2"/>
          <c:tx>
            <c:strRef>
              <c:f>'Top Customers'!$K$4:$K$5</c:f>
              <c:strCache>
                <c:ptCount val="1"/>
                <c:pt idx="0">
                  <c:v>Spot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'Top Customers'!$H$6:$H$16</c:f>
              <c:strCache>
                <c:ptCount val="10"/>
                <c:pt idx="0">
                  <c:v>Global Wholesale</c:v>
                </c:pt>
                <c:pt idx="1">
                  <c:v>ABC Distribution</c:v>
                </c:pt>
                <c:pt idx="2">
                  <c:v>ABC Supply Chain</c:v>
                </c:pt>
                <c:pt idx="3">
                  <c:v>Pacific Corp</c:v>
                </c:pt>
                <c:pt idx="4">
                  <c:v>XYZ Foods</c:v>
                </c:pt>
                <c:pt idx="5">
                  <c:v>Continental Supply Chain</c:v>
                </c:pt>
                <c:pt idx="6">
                  <c:v>XYZ Wholesale</c:v>
                </c:pt>
                <c:pt idx="7">
                  <c:v>Metro Wholesale</c:v>
                </c:pt>
                <c:pt idx="8">
                  <c:v>First Logistics</c:v>
                </c:pt>
                <c:pt idx="9">
                  <c:v>First Group</c:v>
                </c:pt>
              </c:strCache>
            </c:strRef>
          </c:cat>
          <c:val>
            <c:numRef>
              <c:f>'Top Customers'!$K$6:$K$16</c:f>
              <c:numCache>
                <c:formatCode>"$"#,##0.00</c:formatCode>
                <c:ptCount val="10"/>
                <c:pt idx="0">
                  <c:v>1293542.3799999999</c:v>
                </c:pt>
                <c:pt idx="1">
                  <c:v>1286854.9099999999</c:v>
                </c:pt>
                <c:pt idx="4">
                  <c:v>1338825.8700000001</c:v>
                </c:pt>
                <c:pt idx="5">
                  <c:v>1142845.27</c:v>
                </c:pt>
                <c:pt idx="7">
                  <c:v>2820843.53</c:v>
                </c:pt>
                <c:pt idx="8">
                  <c:v>1358967.84</c:v>
                </c:pt>
                <c:pt idx="9">
                  <c:v>2778058.61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4B6-437F-AADD-16A90E177D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100"/>
        <c:axId val="1435278640"/>
        <c:axId val="1435277200"/>
      </c:barChart>
      <c:catAx>
        <c:axId val="14352786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5277200"/>
        <c:crosses val="autoZero"/>
        <c:auto val="1"/>
        <c:lblAlgn val="ctr"/>
        <c:lblOffset val="100"/>
        <c:noMultiLvlLbl val="0"/>
      </c:catAx>
      <c:valAx>
        <c:axId val="1435277200"/>
        <c:scaling>
          <c:orientation val="minMax"/>
        </c:scaling>
        <c:delete val="1"/>
        <c:axPos val="b"/>
        <c:numFmt formatCode="&quot;$&quot;#,##0.00" sourceLinked="1"/>
        <c:majorTickMark val="out"/>
        <c:minorTickMark val="none"/>
        <c:tickLblPos val="nextTo"/>
        <c:crossAx val="1435278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>
        <a:lumMod val="5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[Logistics Operation Analysis Dashboard.xlsx]High performance drivers by rev!PivotTable1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Driver</a:t>
            </a:r>
            <a:r>
              <a:rPr lang="en-US" baseline="0"/>
              <a:t> performance Tier by revenue &amp; revenue/mile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4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4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4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4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'High performance drivers by rev'!$C$131</c:f>
              <c:strCache>
                <c:ptCount val="1"/>
                <c:pt idx="0">
                  <c:v>Count of driver_name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D4FC-4435-BFE0-058867BA57E8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D4FC-4435-BFE0-058867BA57E8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D4FC-4435-BFE0-058867BA57E8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D4FC-4435-BFE0-058867BA57E8}"/>
              </c:ext>
            </c:extLst>
          </c:dPt>
          <c:cat>
            <c:strRef>
              <c:f>'High performance drivers by rev'!$B$132:$B$135</c:f>
              <c:strCache>
                <c:ptCount val="4"/>
                <c:pt idx="0">
                  <c:v>Elite</c:v>
                </c:pt>
                <c:pt idx="1">
                  <c:v>High Efficiency</c:v>
                </c:pt>
                <c:pt idx="2">
                  <c:v>High Revenue</c:v>
                </c:pt>
                <c:pt idx="3">
                  <c:v>Standard</c:v>
                </c:pt>
              </c:strCache>
            </c:strRef>
          </c:cat>
          <c:val>
            <c:numRef>
              <c:f>'High performance drivers by rev'!$C$132:$C$135</c:f>
              <c:numCache>
                <c:formatCode>General</c:formatCode>
                <c:ptCount val="4"/>
                <c:pt idx="0">
                  <c:v>27</c:v>
                </c:pt>
                <c:pt idx="1">
                  <c:v>23</c:v>
                </c:pt>
                <c:pt idx="2">
                  <c:v>42</c:v>
                </c:pt>
                <c:pt idx="3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4FC-4435-BFE0-058867BA57E8}"/>
            </c:ext>
          </c:extLst>
        </c:ser>
        <c:ser>
          <c:idx val="1"/>
          <c:order val="1"/>
          <c:tx>
            <c:strRef>
              <c:f>'High performance drivers by rev'!$D$131</c:f>
              <c:strCache>
                <c:ptCount val="1"/>
                <c:pt idx="0">
                  <c:v>Sum of total_revenue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A-D4FC-4435-BFE0-058867BA57E8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C-D4FC-4435-BFE0-058867BA57E8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E-D4FC-4435-BFE0-058867BA57E8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10-D4FC-4435-BFE0-058867BA57E8}"/>
              </c:ext>
            </c:extLst>
          </c:dPt>
          <c:cat>
            <c:strRef>
              <c:f>'High performance drivers by rev'!$B$132:$B$135</c:f>
              <c:strCache>
                <c:ptCount val="4"/>
                <c:pt idx="0">
                  <c:v>Elite</c:v>
                </c:pt>
                <c:pt idx="1">
                  <c:v>High Efficiency</c:v>
                </c:pt>
                <c:pt idx="2">
                  <c:v>High Revenue</c:v>
                </c:pt>
                <c:pt idx="3">
                  <c:v>Standard</c:v>
                </c:pt>
              </c:strCache>
            </c:strRef>
          </c:cat>
          <c:val>
            <c:numRef>
              <c:f>'High performance drivers by rev'!$D$132:$D$135</c:f>
              <c:numCache>
                <c:formatCode>"$"#,##0.00</c:formatCode>
                <c:ptCount val="4"/>
                <c:pt idx="0">
                  <c:v>58027405.950000003</c:v>
                </c:pt>
                <c:pt idx="1">
                  <c:v>45493409.030000001</c:v>
                </c:pt>
                <c:pt idx="2">
                  <c:v>90359666.420000002</c:v>
                </c:pt>
                <c:pt idx="3">
                  <c:v>63384069.200000003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D4FC-4435-BFE0-058867BA57E8}"/>
            </c:ext>
          </c:extLst>
        </c:ser>
        <c:ser>
          <c:idx val="2"/>
          <c:order val="2"/>
          <c:tx>
            <c:strRef>
              <c:f>'High performance drivers by rev'!$E$131</c:f>
              <c:strCache>
                <c:ptCount val="1"/>
                <c:pt idx="0">
                  <c:v>revenue_per_mile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13-D4FC-4435-BFE0-058867BA57E8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15-D4FC-4435-BFE0-058867BA57E8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17-D4FC-4435-BFE0-058867BA57E8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19-D4FC-4435-BFE0-058867BA57E8}"/>
              </c:ext>
            </c:extLst>
          </c:dPt>
          <c:cat>
            <c:strRef>
              <c:f>'High performance drivers by rev'!$B$132:$B$135</c:f>
              <c:strCache>
                <c:ptCount val="4"/>
                <c:pt idx="0">
                  <c:v>Elite</c:v>
                </c:pt>
                <c:pt idx="1">
                  <c:v>High Efficiency</c:v>
                </c:pt>
                <c:pt idx="2">
                  <c:v>High Revenue</c:v>
                </c:pt>
                <c:pt idx="3">
                  <c:v>Standard</c:v>
                </c:pt>
              </c:strCache>
            </c:strRef>
          </c:cat>
          <c:val>
            <c:numRef>
              <c:f>'High performance drivers by rev'!$E$132:$E$135</c:f>
              <c:numCache>
                <c:formatCode>General</c:formatCode>
                <c:ptCount val="4"/>
                <c:pt idx="0">
                  <c:v>2.2058</c:v>
                </c:pt>
                <c:pt idx="1">
                  <c:v>2.1907999999999999</c:v>
                </c:pt>
                <c:pt idx="2">
                  <c:v>2.1854</c:v>
                </c:pt>
                <c:pt idx="3">
                  <c:v>2.1983999999999999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D4FC-4435-BFE0-058867BA57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[Logistics Operation Analysis Dashboard.xlsx]Fueling vs Revenue !PivotTable2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Revenue</a:t>
            </a:r>
            <a:r>
              <a:rPr lang="en-US" baseline="0"/>
              <a:t> vs Fuel Spend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3033033033033031E-2"/>
          <c:y val="0.20508430609597925"/>
          <c:w val="0.62357239128892661"/>
          <c:h val="0.674561516386327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'Fueling vs Revenue '!$I$16</c:f>
              <c:strCache>
                <c:ptCount val="1"/>
                <c:pt idx="0">
                  <c:v>Sum of total_revenue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'Fueling vs Revenue '!$H$17:$H$29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'Fueling vs Revenue '!$I$17:$I$29</c:f>
              <c:numCache>
                <c:formatCode>"$"#,##0.00</c:formatCode>
                <c:ptCount val="12"/>
                <c:pt idx="0">
                  <c:v>22380644.350000001</c:v>
                </c:pt>
                <c:pt idx="1">
                  <c:v>20163263.010000002</c:v>
                </c:pt>
                <c:pt idx="2">
                  <c:v>22364541.75</c:v>
                </c:pt>
                <c:pt idx="3">
                  <c:v>21568821.09</c:v>
                </c:pt>
                <c:pt idx="4">
                  <c:v>22331443.5</c:v>
                </c:pt>
                <c:pt idx="5">
                  <c:v>22093111.170000002</c:v>
                </c:pt>
                <c:pt idx="6">
                  <c:v>22267253.359999999</c:v>
                </c:pt>
                <c:pt idx="7">
                  <c:v>22260927.649999999</c:v>
                </c:pt>
                <c:pt idx="8">
                  <c:v>21272895.41</c:v>
                </c:pt>
                <c:pt idx="9">
                  <c:v>22405461.010000002</c:v>
                </c:pt>
                <c:pt idx="10">
                  <c:v>21591465.760000002</c:v>
                </c:pt>
                <c:pt idx="11">
                  <c:v>21825972.27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C7-45BE-B1E7-50893FA380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67044527"/>
        <c:axId val="1067046927"/>
      </c:barChart>
      <c:lineChart>
        <c:grouping val="standard"/>
        <c:varyColors val="0"/>
        <c:ser>
          <c:idx val="1"/>
          <c:order val="1"/>
          <c:tx>
            <c:strRef>
              <c:f>'Fueling vs Revenue '!$J$16</c:f>
              <c:strCache>
                <c:ptCount val="1"/>
                <c:pt idx="0">
                  <c:v>Sum of fuel_spend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'Fueling vs Revenue '!$H$17:$H$29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'Fueling vs Revenue '!$J$17:$J$29</c:f>
              <c:numCache>
                <c:formatCode>"$"#,##0.00</c:formatCode>
                <c:ptCount val="12"/>
                <c:pt idx="0">
                  <c:v>7966336.6699999999</c:v>
                </c:pt>
                <c:pt idx="1">
                  <c:v>7329837.1799999997</c:v>
                </c:pt>
                <c:pt idx="2">
                  <c:v>8181059.9100000001</c:v>
                </c:pt>
                <c:pt idx="3">
                  <c:v>7898304.8200000003</c:v>
                </c:pt>
                <c:pt idx="4">
                  <c:v>8039722.6299999999</c:v>
                </c:pt>
                <c:pt idx="5">
                  <c:v>7894984.5099999998</c:v>
                </c:pt>
                <c:pt idx="6">
                  <c:v>8217044.7599999998</c:v>
                </c:pt>
                <c:pt idx="7">
                  <c:v>8183551.25</c:v>
                </c:pt>
                <c:pt idx="8">
                  <c:v>7797986.9000000004</c:v>
                </c:pt>
                <c:pt idx="9">
                  <c:v>8233074.1200000001</c:v>
                </c:pt>
                <c:pt idx="10">
                  <c:v>7874511.5599999996</c:v>
                </c:pt>
                <c:pt idx="11">
                  <c:v>7883308.8300000001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C7-45BE-B1E7-50893FA380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7003727"/>
        <c:axId val="1067007087"/>
      </c:lineChart>
      <c:catAx>
        <c:axId val="106704452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7046927"/>
        <c:crosses val="autoZero"/>
        <c:auto val="1"/>
        <c:lblAlgn val="ctr"/>
        <c:lblOffset val="100"/>
        <c:noMultiLvlLbl val="0"/>
      </c:catAx>
      <c:valAx>
        <c:axId val="1067046927"/>
        <c:scaling>
          <c:orientation val="minMax"/>
        </c:scaling>
        <c:delete val="1"/>
        <c:axPos val="l"/>
        <c:numFmt formatCode="&quot;$&quot;#,##0.00" sourceLinked="1"/>
        <c:majorTickMark val="none"/>
        <c:minorTickMark val="none"/>
        <c:tickLblPos val="nextTo"/>
        <c:crossAx val="1067044527"/>
        <c:crosses val="autoZero"/>
        <c:crossBetween val="between"/>
      </c:valAx>
      <c:valAx>
        <c:axId val="1067007087"/>
        <c:scaling>
          <c:orientation val="minMax"/>
        </c:scaling>
        <c:delete val="1"/>
        <c:axPos val="r"/>
        <c:numFmt formatCode="&quot;$&quot;#,##0.00" sourceLinked="1"/>
        <c:majorTickMark val="none"/>
        <c:minorTickMark val="none"/>
        <c:tickLblPos val="nextTo"/>
        <c:crossAx val="1067003727"/>
        <c:crosses val="max"/>
        <c:crossBetween val="between"/>
      </c:valAx>
      <c:catAx>
        <c:axId val="1067003727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067007087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360242131895674"/>
          <c:y val="0.48645853120500016"/>
          <c:w val="0.3163675486510133"/>
          <c:h val="0.175098501792334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[Logistics Operation Analysis Dashboard.xlsx]Maintenance Cost!PivotTable1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Maintenance Spend Distribution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'Maintenance Cost'!$C$12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27A8-4BE8-B285-3EFE33D8538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27A8-4BE8-B285-3EFE33D8538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27A8-4BE8-B285-3EFE33D8538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27A8-4BE8-B285-3EFE33D85387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9-27A8-4BE8-B285-3EFE33D85387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B-27A8-4BE8-B285-3EFE33D85387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D-27A8-4BE8-B285-3EFE33D853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'Maintenance Cost'!$B$13:$B$20</c:f>
              <c:strCache>
                <c:ptCount val="7"/>
                <c:pt idx="0">
                  <c:v>Preventive</c:v>
                </c:pt>
                <c:pt idx="1">
                  <c:v>Repair</c:v>
                </c:pt>
                <c:pt idx="2">
                  <c:v>Tire</c:v>
                </c:pt>
                <c:pt idx="3">
                  <c:v>Brake</c:v>
                </c:pt>
                <c:pt idx="4">
                  <c:v>Engine</c:v>
                </c:pt>
                <c:pt idx="5">
                  <c:v>Transmission</c:v>
                </c:pt>
                <c:pt idx="6">
                  <c:v>Inspection</c:v>
                </c:pt>
              </c:strCache>
            </c:strRef>
          </c:cat>
          <c:val>
            <c:numRef>
              <c:f>'Maintenance Cost'!$C$13:$C$20</c:f>
              <c:numCache>
                <c:formatCode>"$"#,##0.00</c:formatCode>
                <c:ptCount val="7"/>
                <c:pt idx="0">
                  <c:v>963576.34</c:v>
                </c:pt>
                <c:pt idx="1">
                  <c:v>945375.44</c:v>
                </c:pt>
                <c:pt idx="2">
                  <c:v>919413.24</c:v>
                </c:pt>
                <c:pt idx="3">
                  <c:v>911667.23</c:v>
                </c:pt>
                <c:pt idx="4">
                  <c:v>890537.88</c:v>
                </c:pt>
                <c:pt idx="5">
                  <c:v>879620.87</c:v>
                </c:pt>
                <c:pt idx="6">
                  <c:v>220382.28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7A8-4BE8-B285-3EFE33D853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[Logistics Operation Analysis Dashboard.xlsx]Safety incidents!PivotTable3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Safety</a:t>
            </a:r>
            <a:r>
              <a:rPr lang="en-US" baseline="0"/>
              <a:t> Incident Exposure by Type</a:t>
            </a:r>
            <a:endParaRPr lang="en-US"/>
          </a:p>
        </c:rich>
      </c:tx>
      <c:layout>
        <c:manualLayout>
          <c:xMode val="edge"/>
          <c:yMode val="edge"/>
          <c:x val="0.14012168933428776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'Safety incidents'!$C$12</c:f>
              <c:strCache>
                <c:ptCount val="1"/>
                <c:pt idx="0">
                  <c:v>total_vehicle_damage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c:spPr>
          <c:invertIfNegative val="0"/>
          <c:cat>
            <c:strRef>
              <c:f>'Safety incidents'!$B$13:$B$18</c:f>
              <c:strCache>
                <c:ptCount val="5"/>
                <c:pt idx="0">
                  <c:v>Accident</c:v>
                </c:pt>
                <c:pt idx="1">
                  <c:v>Customer Complaint</c:v>
                </c:pt>
                <c:pt idx="2">
                  <c:v>DOT Violation</c:v>
                </c:pt>
                <c:pt idx="3">
                  <c:v>Equipment Damage</c:v>
                </c:pt>
                <c:pt idx="4">
                  <c:v>Moving Violation</c:v>
                </c:pt>
              </c:strCache>
            </c:strRef>
          </c:cat>
          <c:val>
            <c:numRef>
              <c:f>'Safety incidents'!$C$13:$C$18</c:f>
              <c:numCache>
                <c:formatCode>"$"#,##0.00</c:formatCode>
                <c:ptCount val="5"/>
                <c:pt idx="0">
                  <c:v>337990.48</c:v>
                </c:pt>
                <c:pt idx="1">
                  <c:v>351743.2</c:v>
                </c:pt>
                <c:pt idx="2">
                  <c:v>300252.95</c:v>
                </c:pt>
                <c:pt idx="3">
                  <c:v>408250.78</c:v>
                </c:pt>
                <c:pt idx="4">
                  <c:v>205323.7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F1-4D74-A888-4FF05FB02080}"/>
            </c:ext>
          </c:extLst>
        </c:ser>
        <c:ser>
          <c:idx val="1"/>
          <c:order val="1"/>
          <c:tx>
            <c:strRef>
              <c:f>'Safety incidents'!$D$12</c:f>
              <c:strCache>
                <c:ptCount val="1"/>
                <c:pt idx="0">
                  <c:v>total_cargo_damage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c:spPr>
          <c:invertIfNegative val="0"/>
          <c:cat>
            <c:strRef>
              <c:f>'Safety incidents'!$B$13:$B$18</c:f>
              <c:strCache>
                <c:ptCount val="5"/>
                <c:pt idx="0">
                  <c:v>Accident</c:v>
                </c:pt>
                <c:pt idx="1">
                  <c:v>Customer Complaint</c:v>
                </c:pt>
                <c:pt idx="2">
                  <c:v>DOT Violation</c:v>
                </c:pt>
                <c:pt idx="3">
                  <c:v>Equipment Damage</c:v>
                </c:pt>
                <c:pt idx="4">
                  <c:v>Moving Violation</c:v>
                </c:pt>
              </c:strCache>
            </c:strRef>
          </c:cat>
          <c:val>
            <c:numRef>
              <c:f>'Safety incidents'!$D$13:$D$18</c:f>
              <c:numCache>
                <c:formatCode>"$"#,##0.00</c:formatCode>
                <c:ptCount val="5"/>
                <c:pt idx="0">
                  <c:v>149427.66</c:v>
                </c:pt>
                <c:pt idx="1">
                  <c:v>80748.740000000005</c:v>
                </c:pt>
                <c:pt idx="2">
                  <c:v>281194.27</c:v>
                </c:pt>
                <c:pt idx="3">
                  <c:v>332719.95</c:v>
                </c:pt>
                <c:pt idx="4">
                  <c:v>205520.1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F1-4D74-A888-4FF05FB020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67030127"/>
        <c:axId val="1067052207"/>
        <c:axId val="0"/>
      </c:bar3DChart>
      <c:catAx>
        <c:axId val="106703012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7052207"/>
        <c:crosses val="autoZero"/>
        <c:auto val="1"/>
        <c:lblAlgn val="ctr"/>
        <c:lblOffset val="100"/>
        <c:noMultiLvlLbl val="0"/>
      </c:catAx>
      <c:valAx>
        <c:axId val="1067052207"/>
        <c:scaling>
          <c:orientation val="minMax"/>
        </c:scaling>
        <c:delete val="1"/>
        <c:axPos val="b"/>
        <c:numFmt formatCode="&quot;$&quot;#,##0.00" sourceLinked="1"/>
        <c:majorTickMark val="out"/>
        <c:minorTickMark val="none"/>
        <c:tickLblPos val="nextTo"/>
        <c:crossAx val="1067030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>
        <a:lumMod val="5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058542"/>
            <a:ext cx="1066800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57250" y="2361307"/>
            <a:ext cx="1120140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2B5B"/>
                </a:solidFill>
                <a:latin typeface="Poppins"/>
                <a:ea typeface="Poppins"/>
                <a:cs typeface="Poppins"/>
                <a:sym typeface="Poppins"/>
              </a:rPr>
              <a:t>Logistics Operations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57250" y="3258442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Aerolink</a:t>
            </a:r>
            <a:r>
              <a:rPr lang="en-US" sz="21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Fleet Performance &amp; Operational Study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857250" y="4306192"/>
            <a:ext cx="1428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Date: May 29, 2026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667000" y="4306192"/>
            <a:ext cx="221428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Analyst: </a:t>
            </a:r>
            <a:r>
              <a:rPr lang="en-US" sz="1200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Fashina Isaac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238750" y="4306192"/>
            <a:ext cx="1476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Period: 2022 –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471142"/>
            <a:ext cx="3460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2471142"/>
            <a:ext cx="3460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471142"/>
            <a:ext cx="3460849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118967"/>
            <a:ext cx="3460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4118967"/>
            <a:ext cx="3460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4118967"/>
            <a:ext cx="3460849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52500" y="2794992"/>
            <a:ext cx="303366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01. Overview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137892"/>
            <a:ext cx="288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Dataset architecture and primary operational KPIs.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51325" y="2794992"/>
            <a:ext cx="303366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02. Performance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51325" y="3137892"/>
            <a:ext cx="288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Revenue stability trends and top customer concentration.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50150" y="2794992"/>
            <a:ext cx="303381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03. Routes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50150" y="3137892"/>
            <a:ext cx="288934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Profitability mapping and On-Time Delivery analysis.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52500" y="4442817"/>
            <a:ext cx="303366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04. Costs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52500" y="4785717"/>
            <a:ext cx="288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Fuel efficiency benchmarking and maintenance trends.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651325" y="4442817"/>
            <a:ext cx="303366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05. Risk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651325" y="4785717"/>
            <a:ext cx="288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Safety incident liability and DOT compliance overview.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350150" y="4442817"/>
            <a:ext cx="303381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06. Recommendations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350150" y="4785717"/>
            <a:ext cx="288934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Strategic roadmap for operational growth and ROI.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57250" y="760809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582019"/>
            <a:ext cx="20574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67025" y="2582019"/>
            <a:ext cx="20574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7300" y="2582019"/>
            <a:ext cx="20574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67575" y="2582019"/>
            <a:ext cx="20574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67850" y="2582019"/>
            <a:ext cx="20574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666750" y="4293840"/>
            <a:ext cx="114014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Integration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6750" y="4693890"/>
            <a:ext cx="108585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42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elational database architecture linking 14 core operational tables. The analysis focuses on a 3-year performance window (Jan 2022 – Dec 2024), capturing the full lifecycle of trip execution, driver metrics, and cost events.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819150" y="2829669"/>
            <a:ext cx="17526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B5B"/>
                </a:solidFill>
                <a:latin typeface="Inter"/>
                <a:ea typeface="Inter"/>
                <a:cs typeface="Inter"/>
                <a:sym typeface="Inter"/>
              </a:rPr>
              <a:t>$262.5M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1390649" y="3220194"/>
            <a:ext cx="714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REVENUE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3019425" y="2829669"/>
            <a:ext cx="17526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B5B"/>
                </a:solidFill>
                <a:latin typeface="Inter"/>
                <a:ea typeface="Inter"/>
                <a:cs typeface="Inter"/>
                <a:sym typeface="Inter"/>
              </a:rPr>
              <a:t>85,410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3429000" y="3220194"/>
            <a:ext cx="9715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LOADS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5219700" y="2829669"/>
            <a:ext cx="175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B5B"/>
                </a:solidFill>
                <a:latin typeface="Inter"/>
                <a:ea typeface="Inter"/>
                <a:sym typeface="Inter"/>
              </a:rPr>
              <a:t>$5.7M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5625072" y="3208697"/>
            <a:ext cx="97575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Inter"/>
                <a:ea typeface="Inter"/>
                <a:sym typeface="Inter"/>
              </a:rPr>
              <a:t>MAINT. COST</a:t>
            </a:r>
            <a:endParaRPr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7419975" y="2829669"/>
            <a:ext cx="175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B5B"/>
                </a:solidFill>
                <a:latin typeface="Inter"/>
                <a:ea typeface="Inter"/>
                <a:sym typeface="Inter"/>
              </a:rPr>
              <a:t>$2.7M</a:t>
            </a:r>
            <a:endParaRPr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7682472" y="3220194"/>
            <a:ext cx="129540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Inter"/>
                <a:ea typeface="Inter"/>
                <a:sym typeface="Inter"/>
              </a:rPr>
              <a:t>INCIDENT CLAIMS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9620250" y="2829669"/>
            <a:ext cx="175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B5B"/>
                </a:solidFill>
                <a:latin typeface="Inter"/>
                <a:ea typeface="Inter"/>
                <a:sym typeface="Inter"/>
              </a:rPr>
              <a:t>44.61</a:t>
            </a:r>
            <a:endParaRPr dirty="0"/>
          </a:p>
        </p:txBody>
      </p:sp>
      <p:sp>
        <p:nvSpPr>
          <p:cNvPr id="137" name="Google Shape;137;p15"/>
          <p:cNvSpPr txBox="1"/>
          <p:nvPr/>
        </p:nvSpPr>
        <p:spPr>
          <a:xfrm>
            <a:off x="10028143" y="3220194"/>
            <a:ext cx="97155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Inter"/>
                <a:ea typeface="Inter"/>
                <a:sym typeface="Inter"/>
              </a:rPr>
              <a:t>OTD. RATE(%)</a:t>
            </a:r>
            <a:endParaRPr dirty="0"/>
          </a:p>
        </p:txBody>
      </p:sp>
      <p:sp>
        <p:nvSpPr>
          <p:cNvPr id="138" name="Google Shape;138;p15"/>
          <p:cNvSpPr txBox="1"/>
          <p:nvPr/>
        </p:nvSpPr>
        <p:spPr>
          <a:xfrm>
            <a:off x="857250" y="760809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Dataset Architecture &amp; KPIs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666750" y="5538192"/>
            <a:ext cx="10858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Monthly revenue remains stable at ~$7.3M. However, Dec 2024 performance is lower than Jan 2022, indicating commercial stagnation. Growth requires new lanes or higher per-mile pricing strategies.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66750" y="5128617"/>
            <a:ext cx="10858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Jan 2022Jan 2023Jan 2024Dec 2024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57250" y="760809"/>
            <a:ext cx="112014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Monthly Revenue Stability</a:t>
            </a:r>
            <a:endParaRPr dirty="0"/>
          </a:p>
        </p:txBody>
      </p:sp>
      <p:sp>
        <p:nvSpPr>
          <p:cNvPr id="149" name="Google Shape;149;p16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92ED0B6-7528-4A7E-B838-521951B3A1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6699148"/>
              </p:ext>
            </p:extLst>
          </p:nvPr>
        </p:nvGraphicFramePr>
        <p:xfrm>
          <a:off x="857250" y="1532334"/>
          <a:ext cx="10125636" cy="3204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857250" y="5387228"/>
            <a:ext cx="10858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Note: The top 15% of the customer base generates ~60% of total revenue. Strategic account management is vital for maintaining current revenue plateaus.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857250" y="760809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 10 Customer Segmentation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9EEE888-FCE7-4C0A-90A0-FFB557ADAF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0913616"/>
              </p:ext>
            </p:extLst>
          </p:nvPr>
        </p:nvGraphicFramePr>
        <p:xfrm>
          <a:off x="1331259" y="1479177"/>
          <a:ext cx="9762565" cy="3523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666750" y="5461992"/>
            <a:ext cx="108585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Analysis: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Long-haul routes generate high absolute revenue, but shorter regional lanes (e.g., </a:t>
            </a:r>
            <a:r>
              <a:rPr lang="en-US" sz="142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Philadelphia – New York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exhibit significantly higher revenue efficiency at $</a:t>
            </a:r>
            <a:r>
              <a:rPr lang="en-US" sz="142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2.78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 mile.</a:t>
            </a:r>
            <a:endParaRPr dirty="0"/>
          </a:p>
        </p:txBody>
      </p:sp>
      <p:sp>
        <p:nvSpPr>
          <p:cNvPr id="166" name="Google Shape;166;p18"/>
          <p:cNvSpPr/>
          <p:nvPr/>
        </p:nvSpPr>
        <p:spPr>
          <a:xfrm>
            <a:off x="666750" y="2361604"/>
            <a:ext cx="384408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510831" y="2361604"/>
            <a:ext cx="233808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6848921" y="2361604"/>
            <a:ext cx="246712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9316045" y="2361604"/>
            <a:ext cx="220920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66750" y="2942629"/>
            <a:ext cx="38440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4510831" y="2942629"/>
            <a:ext cx="23380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848921" y="2942629"/>
            <a:ext cx="24671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9316045" y="2942629"/>
            <a:ext cx="22092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66750" y="3509367"/>
            <a:ext cx="38440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4510831" y="3509367"/>
            <a:ext cx="23380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848921" y="3509367"/>
            <a:ext cx="24671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9316045" y="3509367"/>
            <a:ext cx="22092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66750" y="4076104"/>
            <a:ext cx="38440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4510831" y="4076104"/>
            <a:ext cx="23380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6848921" y="4076104"/>
            <a:ext cx="24671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9316045" y="4076104"/>
            <a:ext cx="22092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66750" y="4642842"/>
            <a:ext cx="38440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510831" y="4642842"/>
            <a:ext cx="23380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848921" y="4642842"/>
            <a:ext cx="24671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9316045" y="4642842"/>
            <a:ext cx="22092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666750" y="5209579"/>
            <a:ext cx="38440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510831" y="5209579"/>
            <a:ext cx="23380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6848921" y="5209579"/>
            <a:ext cx="24671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9316045" y="5209579"/>
            <a:ext cx="22092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857250" y="760809"/>
            <a:ext cx="112014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Route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Profitability Comparison</a:t>
            </a:r>
            <a:endParaRPr dirty="0"/>
          </a:p>
        </p:txBody>
      </p:sp>
      <p:sp>
        <p:nvSpPr>
          <p:cNvPr id="191" name="Google Shape;191;p18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86FB03-4ED6-8074-B93C-52E9D537C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046767"/>
              </p:ext>
            </p:extLst>
          </p:nvPr>
        </p:nvGraphicFramePr>
        <p:xfrm>
          <a:off x="1376664" y="1812418"/>
          <a:ext cx="9043983" cy="3233164"/>
        </p:xfrm>
        <a:graphic>
          <a:graphicData uri="http://schemas.openxmlformats.org/drawingml/2006/table">
            <a:tbl>
              <a:tblPr>
                <a:tableStyleId>{A244AFAE-619A-4DCA-A104-E4FB9F43DBA9}</a:tableStyleId>
              </a:tblPr>
              <a:tblGrid>
                <a:gridCol w="3293944">
                  <a:extLst>
                    <a:ext uri="{9D8B030D-6E8A-4147-A177-3AD203B41FA5}">
                      <a16:colId xmlns:a16="http://schemas.microsoft.com/office/drawing/2014/main" val="2492656714"/>
                    </a:ext>
                  </a:extLst>
                </a:gridCol>
                <a:gridCol w="2168833">
                  <a:extLst>
                    <a:ext uri="{9D8B030D-6E8A-4147-A177-3AD203B41FA5}">
                      <a16:colId xmlns:a16="http://schemas.microsoft.com/office/drawing/2014/main" val="1986196844"/>
                    </a:ext>
                  </a:extLst>
                </a:gridCol>
                <a:gridCol w="1378860">
                  <a:extLst>
                    <a:ext uri="{9D8B030D-6E8A-4147-A177-3AD203B41FA5}">
                      <a16:colId xmlns:a16="http://schemas.microsoft.com/office/drawing/2014/main" val="281148448"/>
                    </a:ext>
                  </a:extLst>
                </a:gridCol>
                <a:gridCol w="2202346">
                  <a:extLst>
                    <a:ext uri="{9D8B030D-6E8A-4147-A177-3AD203B41FA5}">
                      <a16:colId xmlns:a16="http://schemas.microsoft.com/office/drawing/2014/main" val="217719410"/>
                    </a:ext>
                  </a:extLst>
                </a:gridCol>
              </a:tblGrid>
              <a:tr h="293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Routes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typical_distance_miles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total_revenue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avg_revenue_per_mile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8932639"/>
                  </a:ext>
                </a:extLst>
              </a:tr>
              <a:tr h="293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Charlotte, NC --&gt; Portland, OR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2627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$9,979,092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$2.69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8841843"/>
                  </a:ext>
                </a:extLst>
              </a:tr>
              <a:tr h="293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Phoenix, AZ --&gt; Philadelphia, PA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2389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$9,757,537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$2.71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3239622"/>
                  </a:ext>
                </a:extLst>
              </a:tr>
              <a:tr h="293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Columbus, OH --&gt; Portland, OR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2332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$9,586,537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$2.70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0014814"/>
                  </a:ext>
                </a:extLst>
              </a:tr>
              <a:tr h="293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Columbus, OH --&gt; Los Angeles, CA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2269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$9,501,202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$2.73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36893251"/>
                  </a:ext>
                </a:extLst>
              </a:tr>
              <a:tr h="293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Las Vegas, NV --&gt; Kansas City, MO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1311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$5,053,015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$2.70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55629404"/>
                  </a:ext>
                </a:extLst>
              </a:tr>
              <a:tr h="293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Minneapolis, MN --&gt; Houston, TX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1216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$4,784,672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$2.75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6241126"/>
                  </a:ext>
                </a:extLst>
              </a:tr>
              <a:tr h="293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Dallas, TX --&gt; Denver, CO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762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$2,915,300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$2.62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73317"/>
                  </a:ext>
                </a:extLst>
              </a:tr>
              <a:tr h="293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Columbus, OH --&gt; Minneapolis, MN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720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$2,752,205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$2.62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9273979"/>
                  </a:ext>
                </a:extLst>
              </a:tr>
              <a:tr h="293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Las Vegas, NV --&gt; Los Angeles, CA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$1,047,474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$2.63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1336760"/>
                  </a:ext>
                </a:extLst>
              </a:tr>
              <a:tr h="293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Philadelphia, PA --&gt; New York, NY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92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$393,429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$2.78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3632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77100" y="2861964"/>
            <a:ext cx="4248150" cy="227587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7562850" y="3185814"/>
            <a:ext cx="386048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Critical Issue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562850" y="3528714"/>
            <a:ext cx="36766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Systemic delays at coastal facilities (detention time) are eroding customer trust. Urgent scheduling audits required.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666750" y="3990082"/>
            <a:ext cx="38272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494014" y="3990082"/>
            <a:ext cx="25449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66750" y="4556819"/>
            <a:ext cx="38272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4494014" y="4556819"/>
            <a:ext cx="25449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66750" y="5123557"/>
            <a:ext cx="38272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494014" y="5123557"/>
            <a:ext cx="25449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857250" y="760809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Service Quality: On-Time Delivery (OTD)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BAD837-1B0F-7BEB-3349-453D4C2CF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58721"/>
              </p:ext>
            </p:extLst>
          </p:nvPr>
        </p:nvGraphicFramePr>
        <p:xfrm>
          <a:off x="857250" y="2045493"/>
          <a:ext cx="5753100" cy="3385440"/>
        </p:xfrm>
        <a:graphic>
          <a:graphicData uri="http://schemas.openxmlformats.org/drawingml/2006/table">
            <a:tbl>
              <a:tblPr>
                <a:tableStyleId>{A244AFAE-619A-4DCA-A104-E4FB9F43DBA9}</a:tableStyleId>
              </a:tblPr>
              <a:tblGrid>
                <a:gridCol w="3550956">
                  <a:extLst>
                    <a:ext uri="{9D8B030D-6E8A-4147-A177-3AD203B41FA5}">
                      <a16:colId xmlns:a16="http://schemas.microsoft.com/office/drawing/2014/main" val="976276514"/>
                    </a:ext>
                  </a:extLst>
                </a:gridCol>
                <a:gridCol w="2202144">
                  <a:extLst>
                    <a:ext uri="{9D8B030D-6E8A-4147-A177-3AD203B41FA5}">
                      <a16:colId xmlns:a16="http://schemas.microsoft.com/office/drawing/2014/main" val="3956542655"/>
                    </a:ext>
                  </a:extLst>
                </a:gridCol>
              </a:tblGrid>
              <a:tr h="3761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Top 10 Routes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otd_rate</a:t>
                      </a:r>
                      <a:r>
                        <a:rPr lang="en-US" sz="1400" u="none" strike="noStrike" dirty="0">
                          <a:effectLst/>
                        </a:rPr>
                        <a:t>(%)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6190997"/>
                  </a:ext>
                </a:extLst>
              </a:tr>
              <a:tr h="300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Houston--&gt;Portland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0124996"/>
                  </a:ext>
                </a:extLst>
              </a:tr>
              <a:tr h="300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Kansas City--&gt;Miami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47.3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6479797"/>
                  </a:ext>
                </a:extLst>
              </a:tr>
              <a:tr h="300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Las Vegas--&gt;Los Angeles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47.1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4566947"/>
                  </a:ext>
                </a:extLst>
              </a:tr>
              <a:tr h="300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Dallas--&gt;Denver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46.9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225741"/>
                  </a:ext>
                </a:extLst>
              </a:tr>
              <a:tr h="300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Miami--&gt;Philadelphia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46.6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3591836"/>
                  </a:ext>
                </a:extLst>
              </a:tr>
              <a:tr h="300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New York--&gt;Columbus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46.6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3277828"/>
                  </a:ext>
                </a:extLst>
              </a:tr>
              <a:tr h="300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Kansas City--&gt;Los Angeles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46.5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5477603"/>
                  </a:ext>
                </a:extLst>
              </a:tr>
              <a:tr h="300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Philadelphia--&gt;Seattle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46.4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410637"/>
                  </a:ext>
                </a:extLst>
              </a:tr>
              <a:tr h="300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Detroit--&gt;Houston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46.4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6404656"/>
                  </a:ext>
                </a:extLst>
              </a:tr>
              <a:tr h="300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Kansas City--&gt;Indianapolis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46.2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96786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484340"/>
            <a:ext cx="51435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666750" y="2626965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Efficiency Benchmark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66750" y="3027015"/>
            <a:ext cx="5143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Elite drivers (Top 25%) achieve an average of 7.4 MPG through speed discipline and idle management.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66750" y="3750915"/>
            <a:ext cx="5143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Standard drivers (Bottom 26%) average 5.8 MPG with 16% idle time.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952500" y="480819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Opportunity: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Closing this gap represents a recoverable value of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$1.2M/year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 fuel savings.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857250" y="760809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Driver Performance &amp; Efficiency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599CF0E-6377-9C28-AD2F-F358BB5383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3998960"/>
              </p:ext>
            </p:extLst>
          </p:nvPr>
        </p:nvGraphicFramePr>
        <p:xfrm>
          <a:off x="6952130" y="1284685"/>
          <a:ext cx="4800600" cy="4266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509242"/>
            <a:ext cx="1953746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72896" y="2542580"/>
            <a:ext cx="183832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3852267"/>
            <a:ext cx="528637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353415"/>
            <a:ext cx="5286375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819150" y="2756892"/>
            <a:ext cx="160734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B5B"/>
                </a:solidFill>
                <a:latin typeface="Inter"/>
                <a:ea typeface="Inter"/>
                <a:cs typeface="Inter"/>
                <a:sym typeface="Inter"/>
              </a:rPr>
              <a:t>39.2%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714375" y="3133129"/>
            <a:ext cx="18383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FUEL AS % REVENUE (2022)</a:t>
            </a:r>
            <a:endParaRPr dirty="0"/>
          </a:p>
        </p:txBody>
      </p:sp>
      <p:sp>
        <p:nvSpPr>
          <p:cNvPr id="234" name="Google Shape;234;p21"/>
          <p:cNvSpPr txBox="1"/>
          <p:nvPr/>
        </p:nvSpPr>
        <p:spPr>
          <a:xfrm>
            <a:off x="3073353" y="2842616"/>
            <a:ext cx="12374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B5B"/>
                </a:solidFill>
                <a:latin typeface="Inter"/>
                <a:ea typeface="Inter"/>
                <a:cs typeface="Inter"/>
                <a:sym typeface="Inter"/>
              </a:rPr>
              <a:t>34.2%</a:t>
            </a:r>
            <a:endParaRPr dirty="0"/>
          </a:p>
        </p:txBody>
      </p:sp>
      <p:sp>
        <p:nvSpPr>
          <p:cNvPr id="235" name="Google Shape;235;p21"/>
          <p:cNvSpPr txBox="1"/>
          <p:nvPr/>
        </p:nvSpPr>
        <p:spPr>
          <a:xfrm>
            <a:off x="2925296" y="3228378"/>
            <a:ext cx="18383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FUEL AS % REVENUE (2024)</a:t>
            </a:r>
            <a:endParaRPr dirty="0"/>
          </a:p>
        </p:txBody>
      </p:sp>
      <p:sp>
        <p:nvSpPr>
          <p:cNvPr id="236" name="Google Shape;236;p21"/>
          <p:cNvSpPr txBox="1"/>
          <p:nvPr/>
        </p:nvSpPr>
        <p:spPr>
          <a:xfrm>
            <a:off x="952500" y="4176117"/>
            <a:ext cx="495061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Market Dependence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52500" y="4519017"/>
            <a:ext cx="4714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cost reduction is due to lower market diesel prices, not operational efficiency gains. The fleet remains exposed to price shocks.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524625" y="4447544"/>
            <a:ext cx="495061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Efficiency Risk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524625" y="4793246"/>
            <a:ext cx="4714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return to 2022 prices would result in a $4.3M annual cost increase. Immediate idle-reduction training is critical.</a:t>
            </a:r>
            <a:endParaRPr dirty="0"/>
          </a:p>
        </p:txBody>
      </p:sp>
      <p:sp>
        <p:nvSpPr>
          <p:cNvPr id="240" name="Google Shape;240;p21"/>
          <p:cNvSpPr txBox="1"/>
          <p:nvPr/>
        </p:nvSpPr>
        <p:spPr>
          <a:xfrm>
            <a:off x="857250" y="760809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Fuel Spend Volatility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DCABF52-642D-DFC4-A4D0-256A562ED0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109428"/>
              </p:ext>
            </p:extLst>
          </p:nvPr>
        </p:nvGraphicFramePr>
        <p:xfrm>
          <a:off x="6767511" y="760809"/>
          <a:ext cx="4707731" cy="34153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6381750" y="3029396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Asset Downtime Impact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381750" y="3429446"/>
            <a:ext cx="51435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Preventive maintenance ($963K) is healthy, but repair categories (Tires/Brakes) are nearly as large, indicating corrective over preventive trends.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381750" y="4424808"/>
            <a:ext cx="5143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Downtime: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Avg 25.1 hours per event. Reducing this by 2 hours recovers 5,800 productive truck-hours.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939928" y="1640541"/>
            <a:ext cx="15940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$5.7M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Total Cost</a:t>
            </a:r>
            <a:endParaRPr dirty="0"/>
          </a:p>
        </p:txBody>
      </p:sp>
      <p:sp>
        <p:nvSpPr>
          <p:cNvPr id="252" name="Google Shape;252;p22"/>
          <p:cNvSpPr txBox="1"/>
          <p:nvPr/>
        </p:nvSpPr>
        <p:spPr>
          <a:xfrm>
            <a:off x="857250" y="760809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Fleet Maintenance Breakdown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F382DD8-5F34-157D-0182-80B8FB83F2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1797626"/>
              </p:ext>
            </p:extLst>
          </p:nvPr>
        </p:nvGraphicFramePr>
        <p:xfrm>
          <a:off x="857250" y="1640541"/>
          <a:ext cx="4857750" cy="4087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480964"/>
            <a:ext cx="13525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0489" y="2631875"/>
            <a:ext cx="352425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666750" y="4002285"/>
            <a:ext cx="114014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Compliance Findings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942975" y="454967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1047750" y="4552057"/>
            <a:ext cx="10477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DOT Violations represent a $581K financial liability.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942975" y="482113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1047750" y="4823519"/>
            <a:ext cx="10477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These violations are 100% preventable via equipment inspection and Hours of Service compliance training.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819150" y="2728614"/>
            <a:ext cx="1200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B5B"/>
                </a:solidFill>
                <a:latin typeface="Inter"/>
                <a:ea typeface="Inter"/>
                <a:cs typeface="Inter"/>
                <a:sym typeface="Inter"/>
              </a:rPr>
              <a:t>170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66750" y="3217445"/>
            <a:ext cx="13525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INCIDENTS</a:t>
            </a:r>
            <a:endParaRPr dirty="0"/>
          </a:p>
        </p:txBody>
      </p:sp>
      <p:sp>
        <p:nvSpPr>
          <p:cNvPr id="271" name="Google Shape;271;p23"/>
          <p:cNvSpPr txBox="1"/>
          <p:nvPr/>
        </p:nvSpPr>
        <p:spPr>
          <a:xfrm>
            <a:off x="2192010" y="2789038"/>
            <a:ext cx="174223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B5B"/>
                </a:solidFill>
                <a:latin typeface="Inter"/>
                <a:ea typeface="Inter"/>
                <a:cs typeface="Inter"/>
                <a:sym typeface="Inter"/>
              </a:rPr>
              <a:t>$2.7M</a:t>
            </a:r>
            <a:endParaRPr dirty="0"/>
          </a:p>
        </p:txBody>
      </p:sp>
      <p:sp>
        <p:nvSpPr>
          <p:cNvPr id="272" name="Google Shape;272;p23"/>
          <p:cNvSpPr txBox="1"/>
          <p:nvPr/>
        </p:nvSpPr>
        <p:spPr>
          <a:xfrm>
            <a:off x="2509977" y="3215281"/>
            <a:ext cx="1390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CLAIMS (3YR TOTAL)</a:t>
            </a:r>
            <a:endParaRPr dirty="0"/>
          </a:p>
        </p:txBody>
      </p:sp>
      <p:sp>
        <p:nvSpPr>
          <p:cNvPr id="275" name="Google Shape;275;p23"/>
          <p:cNvSpPr txBox="1"/>
          <p:nvPr/>
        </p:nvSpPr>
        <p:spPr>
          <a:xfrm>
            <a:off x="857250" y="760809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Safety Risk &amp; Liability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4B231FF-892D-42A0-8D5D-ECCB6EA495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8375079"/>
              </p:ext>
            </p:extLst>
          </p:nvPr>
        </p:nvGraphicFramePr>
        <p:xfrm>
          <a:off x="6457950" y="1129553"/>
          <a:ext cx="5240010" cy="3420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2" name="Google Shape;282;p24"/>
          <p:cNvGraphicFramePr/>
          <p:nvPr/>
        </p:nvGraphicFramePr>
        <p:xfrm>
          <a:off x="666750" y="2578298"/>
          <a:ext cx="10858500" cy="2843250"/>
        </p:xfrm>
        <a:graphic>
          <a:graphicData uri="http://schemas.openxmlformats.org/drawingml/2006/table">
            <a:tbl>
              <a:tblPr firstRow="1" bandRow="1">
                <a:noFill/>
                <a:tableStyleId>{A244AFAE-619A-4DCA-A104-E4FB9F43DBA9}</a:tableStyleId>
              </a:tblPr>
              <a:tblGrid>
                <a:gridCol w="256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Action Item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Initiative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Expected Impact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Predictive Maintenance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Scheduling high-cost trucks before failure points.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Recover 5,800 truck-hours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Incentive Program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Driver bonuses tied to MPG and reduced idle time.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$1.2M Fuel Savings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Pricing Review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Revise long-haul per-mile rates based on market demand.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5-10% Revenue Growth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Facility Audit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Operational audit of high-delay coastal hubs.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Contract Retention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3" name="Google Shape;283;p24"/>
          <p:cNvSpPr/>
          <p:nvPr/>
        </p:nvSpPr>
        <p:spPr>
          <a:xfrm>
            <a:off x="666750" y="3125985"/>
            <a:ext cx="256133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3228082" y="3125985"/>
            <a:ext cx="554786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8775948" y="3125985"/>
            <a:ext cx="274930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666750" y="3707010"/>
            <a:ext cx="25613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3228082" y="3707010"/>
            <a:ext cx="5547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8775948" y="3707010"/>
            <a:ext cx="27493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666750" y="4273748"/>
            <a:ext cx="25613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3228082" y="4273748"/>
            <a:ext cx="5547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8775948" y="4273748"/>
            <a:ext cx="27493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666750" y="4840485"/>
            <a:ext cx="25613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3228082" y="4840485"/>
            <a:ext cx="5547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8775948" y="4840485"/>
            <a:ext cx="27493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666750" y="5407223"/>
            <a:ext cx="25613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3228082" y="5407223"/>
            <a:ext cx="5547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8775948" y="5407223"/>
            <a:ext cx="27493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857250" y="760809"/>
            <a:ext cx="112014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Recomendations</a:t>
            </a:r>
            <a:endParaRPr dirty="0"/>
          </a:p>
        </p:txBody>
      </p:sp>
      <p:sp>
        <p:nvSpPr>
          <p:cNvPr id="299" name="Google Shape;299;p24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5"/>
          <p:cNvSpPr txBox="1"/>
          <p:nvPr/>
        </p:nvSpPr>
        <p:spPr>
          <a:xfrm>
            <a:off x="666750" y="2907952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SQL Analytical Framework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666750" y="3308002"/>
            <a:ext cx="5143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Structured cleaning of 85,410 loads using CTEs and window functions for stability analysis.</a:t>
            </a:r>
            <a:endParaRPr/>
          </a:p>
        </p:txBody>
      </p:sp>
      <p:pic>
        <p:nvPicPr>
          <p:cNvPr id="307" name="Google Shape;30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75854"/>
            <a:ext cx="5143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942975" y="402952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1047750" y="4031902"/>
            <a:ext cx="47625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covered 1,714 NULL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driver_id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values via cross-referencing logs.</a:t>
            </a:r>
            <a:endParaRPr dirty="0"/>
          </a:p>
        </p:txBody>
      </p:sp>
      <p:sp>
        <p:nvSpPr>
          <p:cNvPr id="310" name="Google Shape;310;p25"/>
          <p:cNvSpPr txBox="1"/>
          <p:nvPr/>
        </p:nvSpPr>
        <p:spPr>
          <a:xfrm>
            <a:off x="942975" y="457244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047750" y="4574827"/>
            <a:ext cx="4762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Standardized trip-level timestamps for OTD calculations.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857250" y="760809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Methodology &amp; Data Integrity</a:t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666750" y="760809"/>
            <a:ext cx="47625" cy="523875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6"/>
          <p:cNvSpPr txBox="1"/>
          <p:nvPr/>
        </p:nvSpPr>
        <p:spPr>
          <a:xfrm>
            <a:off x="395287" y="2176462"/>
            <a:ext cx="1140142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2B5B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Microsoft Office PowerPoint</Application>
  <PresentationFormat>Widescreen</PresentationFormat>
  <Paragraphs>166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Poppins</vt:lpstr>
      <vt:lpstr>Inter Medium</vt:lpstr>
      <vt:lpstr>Inter SemiBold</vt:lpstr>
      <vt:lpstr>Calibri</vt:lpstr>
      <vt:lpstr>Arial</vt:lpstr>
      <vt:lpstr>Times New Roman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Ayodele Fashina</cp:lastModifiedBy>
  <cp:revision>1</cp:revision>
  <dcterms:modified xsi:type="dcterms:W3CDTF">2026-05-30T23:14:59Z</dcterms:modified>
</cp:coreProperties>
</file>